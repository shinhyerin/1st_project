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802F"/>
    <a:srgbClr val="FFD400"/>
    <a:srgbClr val="FFFFFF"/>
    <a:srgbClr val="FFFA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84" autoAdjust="0"/>
    <p:restoredTop sz="94660"/>
  </p:normalViewPr>
  <p:slideViewPr>
    <p:cSldViewPr snapToGrid="0">
      <p:cViewPr varScale="1">
        <p:scale>
          <a:sx n="90" d="100"/>
          <a:sy n="90" d="100"/>
        </p:scale>
        <p:origin x="439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5:32:08.450" v="1842" actId="1076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35:36.590" v="1643" actId="20577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35:36.590" v="1643" actId="20577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5:31:21.697" v="1841" actId="113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del mod ord">
          <ac:chgData name="혜린 신" userId="5adea4bc7da63cbc" providerId="LiveId" clId="{006129DB-ED47-489C-BE29-1CD45A3BB9BA}" dt="2026-03-19T05:30:22.575" v="1743" actId="478"/>
          <ac:spMkLst>
            <pc:docMk/>
            <pc:sldMk cId="1239003251" sldId="261"/>
            <ac:spMk id="3" creationId="{4DF33E91-DE90-8D14-6EC9-DA1097C32CF5}"/>
          </ac:spMkLst>
        </pc:spChg>
        <pc:spChg chg="add del mod ord">
          <ac:chgData name="혜린 신" userId="5adea4bc7da63cbc" providerId="LiveId" clId="{006129DB-ED47-489C-BE29-1CD45A3BB9BA}" dt="2026-03-19T05:30:21.278" v="1742" actId="478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del mod">
          <ac:chgData name="혜린 신" userId="5adea4bc7da63cbc" providerId="LiveId" clId="{006129DB-ED47-489C-BE29-1CD45A3BB9BA}" dt="2026-03-19T05:30:28.805" v="1745" actId="478"/>
          <ac:spMkLst>
            <pc:docMk/>
            <pc:sldMk cId="1239003251" sldId="261"/>
            <ac:spMk id="6" creationId="{BC43E2C4-18EF-0F50-03B2-6BE1F36AA8FA}"/>
          </ac:spMkLst>
        </pc:spChg>
        <pc:spChg chg="add del mod">
          <ac:chgData name="혜린 신" userId="5adea4bc7da63cbc" providerId="LiveId" clId="{006129DB-ED47-489C-BE29-1CD45A3BB9BA}" dt="2026-03-19T05:30:54.202" v="1834" actId="478"/>
          <ac:spMkLst>
            <pc:docMk/>
            <pc:sldMk cId="1239003251" sldId="261"/>
            <ac:spMk id="7" creationId="{2AF6224E-DCC8-97F1-AF43-EE0D310062AC}"/>
          </ac:spMkLst>
        </pc:spChg>
        <pc:spChg chg="add mod">
          <ac:chgData name="혜린 신" userId="5adea4bc7da63cbc" providerId="LiveId" clId="{006129DB-ED47-489C-BE29-1CD45A3BB9BA}" dt="2026-03-19T05:31:21.697" v="1841" actId="113"/>
          <ac:spMkLst>
            <pc:docMk/>
            <pc:sldMk cId="1239003251" sldId="261"/>
            <ac:spMk id="9" creationId="{D5E087DB-D39A-8AF6-66E4-BFB4705E8D5E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5:09:56.300" v="1728" actId="20577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5:09:56.300" v="1728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5:32:08.450" v="1842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5:10:01.284" v="1738" actId="20577"/>
          <ac:spMkLst>
            <pc:docMk/>
            <pc:sldMk cId="737299096" sldId="265"/>
            <ac:spMk id="2" creationId="{3DE12A3C-24E9-0ED6-A8DA-DF39C30376B2}"/>
          </ac:spMkLst>
        </pc:spChg>
        <pc:spChg chg="mod">
          <ac:chgData name="혜린 신" userId="5adea4bc7da63cbc" providerId="LiveId" clId="{006129DB-ED47-489C-BE29-1CD45A3BB9BA}" dt="2026-03-19T05:32:08.450" v="1842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E71D51-8A19-4BEA-9750-E87DB394B54C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FAA0A-814C-4D3B-A4DE-794F9EB0F9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4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035" y="1515979"/>
            <a:ext cx="12071927" cy="2387600"/>
          </a:xfrm>
        </p:spPr>
        <p:txBody>
          <a:bodyPr>
            <a:no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 패턴 분석을 통한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n w="0"/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식습관 유형 분석</a:t>
            </a:r>
            <a:r>
              <a:rPr lang="ko-KR" altLang="en-US" b="1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4056210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dirty="0"/>
          </a:p>
          <a:p>
            <a:pPr algn="r"/>
            <a:endParaRPr lang="en-US" altLang="ko-KR" b="1" dirty="0"/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2026.03.22.  </a:t>
            </a:r>
            <a:r>
              <a:rPr lang="ko-KR" altLang="en-US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D2B4BA-86B7-33EB-3FE6-DF838C287F96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428B6EB7-9629-2D9E-89A5-A8AEB5E1406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D0A615ED-02C6-450A-6C8D-9B1095A4926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L 도형 11">
            <a:extLst>
              <a:ext uri="{FF2B5EF4-FFF2-40B4-BE49-F238E27FC236}">
                <a16:creationId xmlns:a16="http://schemas.microsoft.com/office/drawing/2014/main" id="{81DA8C8C-8394-7EA1-2446-6E54B0C7CBE2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298E60-FF59-F86F-F449-137837A280A8}"/>
              </a:ext>
            </a:extLst>
          </p:cNvPr>
          <p:cNvSpPr/>
          <p:nvPr/>
        </p:nvSpPr>
        <p:spPr>
          <a:xfrm>
            <a:off x="5195997" y="4385636"/>
            <a:ext cx="1800000" cy="581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BFBBEDE-0A8D-4E83-B725-2F613A5E7037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잘린 한쪽 모서리 13">
            <a:extLst>
              <a:ext uri="{FF2B5EF4-FFF2-40B4-BE49-F238E27FC236}">
                <a16:creationId xmlns:a16="http://schemas.microsoft.com/office/drawing/2014/main" id="{746B476A-0F05-DA17-4793-617FB17DA9D8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26B2B9A-D4B0-4AF7-EBBF-6A898D6C3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6" y="644152"/>
            <a:ext cx="7473909" cy="848319"/>
          </a:xfrm>
          <a:prstGeom prst="rect">
            <a:avLst/>
          </a:prstGeom>
        </p:spPr>
      </p:pic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2CA1E2D-5EF4-3B03-66C7-E97139F55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89" y="1986717"/>
            <a:ext cx="9792625" cy="4165802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dirty="0"/>
              <a:t>온라인에서 </a:t>
            </a:r>
            <a:r>
              <a:rPr lang="ko-KR" altLang="en-US" sz="33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가구 비율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72.3%</a:t>
            </a:r>
            <a:r>
              <a:rPr lang="en-US" altLang="ko-KR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그 중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90.3%,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96.2%</a:t>
            </a:r>
            <a:br>
              <a:rPr lang="ko-KR" altLang="en-US" sz="3300" b="1" dirty="0">
                <a:solidFill>
                  <a:srgbClr val="FFC000"/>
                </a:solidFill>
              </a:rPr>
            </a:br>
            <a:br>
              <a:rPr lang="ko-KR" altLang="en-US" dirty="0"/>
            </a:br>
            <a:endParaRPr lang="en-US" altLang="ko-KR" dirty="0"/>
          </a:p>
          <a:p>
            <a:pPr marL="0" indent="0" algn="ctr">
              <a:buNone/>
            </a:pP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주 </a:t>
            </a:r>
            <a:r>
              <a:rPr lang="en-US" altLang="ko-KR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회 이상</a:t>
            </a:r>
            <a:r>
              <a:rPr lang="ko-KR" altLang="en-US" sz="3800" b="0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온라인으로 </a:t>
            </a:r>
            <a:r>
              <a:rPr lang="ko-KR" altLang="en-US" sz="3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구매</a:t>
            </a:r>
            <a:r>
              <a:rPr lang="ko-KR" altLang="en-US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하는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가구</a:t>
            </a:r>
            <a:endParaRPr lang="en-US" altLang="ko-KR" b="0" i="0" dirty="0">
              <a:solidFill>
                <a:srgbClr val="333333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2019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16.4%</a:t>
            </a:r>
            <a:r>
              <a:rPr lang="ko-KR" altLang="en-US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→ </a:t>
            </a:r>
            <a:r>
              <a:rPr lang="en-US" altLang="ko-KR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2024</a:t>
            </a:r>
            <a:r>
              <a:rPr lang="ko-KR" altLang="en-US" b="1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37.8%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lang="ko-KR" altLang="en-US" sz="38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두 배</a:t>
            </a:r>
            <a:r>
              <a:rPr lang="ko-KR" altLang="en-US" b="1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이상 증가</a:t>
            </a: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sz="5800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900" b="1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간편함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이유로 </a:t>
            </a:r>
            <a:r>
              <a:rPr lang="ko-KR" altLang="en-US" sz="4300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39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선택하는 경향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en-US" altLang="ko-KR" b="1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ko-KR" alt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85864146-E02C-AFCE-08A1-BB366C87AAD1}"/>
              </a:ext>
            </a:extLst>
          </p:cNvPr>
          <p:cNvSpPr/>
          <p:nvPr/>
        </p:nvSpPr>
        <p:spPr>
          <a:xfrm rot="5400000">
            <a:off x="5699657" y="4688967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227285A9-8D4E-6425-4998-D9D8A7E7CA5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L 도형 10">
            <a:extLst>
              <a:ext uri="{FF2B5EF4-FFF2-40B4-BE49-F238E27FC236}">
                <a16:creationId xmlns:a16="http://schemas.microsoft.com/office/drawing/2014/main" id="{103EA615-B974-526D-5CC5-1AA27D538E5F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L 도형 12">
            <a:extLst>
              <a:ext uri="{FF2B5EF4-FFF2-40B4-BE49-F238E27FC236}">
                <a16:creationId xmlns:a16="http://schemas.microsoft.com/office/drawing/2014/main" id="{63B901FB-C4F8-5870-D36E-013276586CF9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E610155-5549-0F16-0A12-07A5EE895635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5449981-4F30-BCA7-D834-1D3714F1E2ED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16A3181-4843-F526-BE67-64F1C0F9F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369" y="565032"/>
            <a:ext cx="7024760" cy="978131"/>
          </a:xfrm>
          <a:prstGeom prst="rect">
            <a:avLst/>
          </a:prstGeom>
        </p:spPr>
      </p:pic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A2402BA-F398-C4E1-9924-F96A824622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0852" y="1735922"/>
            <a:ext cx="10970277" cy="483443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222222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⚠️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극단적인 다이어트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불규칙한 식습관</a:t>
            </a:r>
            <a:r>
              <a:rPr lang="en-US" altLang="ko-KR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, 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자극적인 음식 섭취 증가 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고나트륨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 err="1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고당분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↑</a:t>
            </a:r>
            <a:r>
              <a:rPr lang="ko-KR" altLang="en-US" sz="3200" i="0" dirty="0">
                <a:solidFill>
                  <a:srgbClr val="C00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고지방</a:t>
            </a:r>
            <a:r>
              <a:rPr lang="ko-KR" altLang="en-US" sz="240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으로 이루어진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가공식품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섭취</a:t>
            </a:r>
            <a:endParaRPr lang="en-US" altLang="ko-KR" sz="2400" b="0" i="0" dirty="0">
              <a:solidFill>
                <a:srgbClr val="222222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청년층의 </a:t>
            </a:r>
            <a:r>
              <a:rPr lang="ko-KR" altLang="en-US" b="1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비타민과 무기질 결핍</a:t>
            </a:r>
            <a:r>
              <a:rPr lang="ko-KR" altLang="en-US" b="0" i="0" dirty="0">
                <a:solidFill>
                  <a:srgbClr val="FFC000"/>
                </a:solidFill>
                <a:effectLst/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b="0" i="0" dirty="0">
                <a:solidFill>
                  <a:srgbClr val="222222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문제 심각</a:t>
            </a:r>
            <a:b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에너지와 필수 영양소를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권장량의 </a:t>
            </a:r>
            <a: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75% 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미만</a:t>
            </a:r>
            <a:r>
              <a:rPr lang="ko-KR" altLang="en-US" sz="2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섭취하는 </a:t>
            </a:r>
            <a:endParaRPr lang="en-US" altLang="ko-KR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영양섭취 부족 비율 </a:t>
            </a:r>
            <a:r>
              <a:rPr lang="en-US" altLang="ko-KR" sz="3200" b="1" dirty="0">
                <a:solidFill>
                  <a:srgbClr val="FFC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17.9%</a:t>
            </a:r>
            <a:r>
              <a:rPr lang="en-US" altLang="ko-KR" sz="3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indent="0" algn="ctr">
              <a:buNone/>
            </a:pPr>
            <a:endParaRPr lang="en-US" altLang="ko-KR" sz="4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국민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ko-KR" altLang="en-US" sz="4400" dirty="0">
                <a:solidFill>
                  <a:srgbClr val="C00000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영양 불균형</a:t>
            </a:r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3D12DC9-F836-50EA-BE5C-D89FA86434F7}"/>
              </a:ext>
            </a:extLst>
          </p:cNvPr>
          <p:cNvSpPr/>
          <p:nvPr/>
        </p:nvSpPr>
        <p:spPr>
          <a:xfrm rot="5400000">
            <a:off x="5742048" y="4798674"/>
            <a:ext cx="707887" cy="797288"/>
          </a:xfrm>
          <a:prstGeom prst="rightArrow">
            <a:avLst/>
          </a:prstGeom>
          <a:ln>
            <a:solidFill>
              <a:srgbClr val="C0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CBE066-FD4E-7B28-5BC9-605396C2E98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잘린 한쪽 모서리 4">
            <a:extLst>
              <a:ext uri="{FF2B5EF4-FFF2-40B4-BE49-F238E27FC236}">
                <a16:creationId xmlns:a16="http://schemas.microsoft.com/office/drawing/2014/main" id="{79DAF5A7-BF30-F26B-0C1D-3C8D86EC00C3}"/>
              </a:ext>
            </a:extLst>
          </p:cNvPr>
          <p:cNvSpPr/>
          <p:nvPr/>
        </p:nvSpPr>
        <p:spPr>
          <a:xfrm>
            <a:off x="-766" y="317921"/>
            <a:ext cx="2515105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7CF7C41-1473-2494-7047-51B6386A25D1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426D73DB-6197-B72B-71B1-B872C5AC17A9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L 도형 9">
            <a:extLst>
              <a:ext uri="{FF2B5EF4-FFF2-40B4-BE49-F238E27FC236}">
                <a16:creationId xmlns:a16="http://schemas.microsoft.com/office/drawing/2014/main" id="{C8B070B5-8945-0CE1-830C-D9CBA40C8ED4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A9637FA2-9DAF-1F7A-DC27-4FAAACD64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3341" y="60556"/>
            <a:ext cx="2640254" cy="1289849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4BBA1C-D105-A296-41CE-8B9FB37289A0}"/>
              </a:ext>
            </a:extLst>
          </p:cNvPr>
          <p:cNvSpPr/>
          <p:nvPr/>
        </p:nvSpPr>
        <p:spPr>
          <a:xfrm>
            <a:off x="-766" y="1059394"/>
            <a:ext cx="252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2EE9EA-D920-3784-655C-E9B121334B6B}"/>
              </a:ext>
            </a:extLst>
          </p:cNvPr>
          <p:cNvSpPr/>
          <p:nvPr/>
        </p:nvSpPr>
        <p:spPr>
          <a:xfrm>
            <a:off x="2408787" y="1068311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0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F04660-2DD0-1F36-136E-4E0C8D38B7FC}"/>
              </a:ext>
            </a:extLst>
          </p:cNvPr>
          <p:cNvSpPr/>
          <p:nvPr/>
        </p:nvSpPr>
        <p:spPr>
          <a:xfrm>
            <a:off x="3906380" y="147636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D96876-AE61-8F32-978E-6BB6C8058C4A}"/>
              </a:ext>
            </a:extLst>
          </p:cNvPr>
          <p:cNvSpPr/>
          <p:nvPr/>
        </p:nvSpPr>
        <p:spPr>
          <a:xfrm>
            <a:off x="210269" y="319964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7BDC17-BF29-4E47-CBE6-D60575997B0B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8CD96050-6FD3-6D4E-23AE-F1C333B875AC}"/>
              </a:ext>
            </a:extLst>
          </p:cNvPr>
          <p:cNvSpPr/>
          <p:nvPr/>
        </p:nvSpPr>
        <p:spPr>
          <a:xfrm>
            <a:off x="-766" y="317921"/>
            <a:ext cx="684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31568C67-4688-F84D-0E55-CA6D0C343ED2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L 도형 7">
            <a:extLst>
              <a:ext uri="{FF2B5EF4-FFF2-40B4-BE49-F238E27FC236}">
                <a16:creationId xmlns:a16="http://schemas.microsoft.com/office/drawing/2014/main" id="{366A52A5-70D0-7102-FF91-436F36AB2423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L 도형 8">
            <a:extLst>
              <a:ext uri="{FF2B5EF4-FFF2-40B4-BE49-F238E27FC236}">
                <a16:creationId xmlns:a16="http://schemas.microsoft.com/office/drawing/2014/main" id="{C5D3C134-DAE7-582F-17DD-A51860D3A19B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-63341" y="60556"/>
            <a:ext cx="7804426" cy="1289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개발목표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:</a:t>
            </a:r>
            <a:r>
              <a:rPr lang="en-US" altLang="ko-KR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식습관 유형 분석 가이드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7" name="사각형: 잘린 한쪽 모서리 16">
            <a:extLst>
              <a:ext uri="{FF2B5EF4-FFF2-40B4-BE49-F238E27FC236}">
                <a16:creationId xmlns:a16="http://schemas.microsoft.com/office/drawing/2014/main" id="{5DFAC866-6C57-6CFD-0481-AEA618502613}"/>
              </a:ext>
            </a:extLst>
          </p:cNvPr>
          <p:cNvSpPr/>
          <p:nvPr/>
        </p:nvSpPr>
        <p:spPr>
          <a:xfrm flipH="1">
            <a:off x="261498" y="152529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341B19-5870-107F-C75D-E896A92B33F9}"/>
              </a:ext>
            </a:extLst>
          </p:cNvPr>
          <p:cNvSpPr/>
          <p:nvPr/>
        </p:nvSpPr>
        <p:spPr>
          <a:xfrm>
            <a:off x="-766" y="1059394"/>
            <a:ext cx="68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EC49A65-75BE-4E83-550F-AC2B7362D9AB}"/>
              </a:ext>
            </a:extLst>
          </p:cNvPr>
          <p:cNvSpPr/>
          <p:nvPr/>
        </p:nvSpPr>
        <p:spPr>
          <a:xfrm>
            <a:off x="673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1F8493-DEAC-F012-2FC6-12FE94923F3D}"/>
              </a:ext>
            </a:extLst>
          </p:cNvPr>
          <p:cNvSpPr txBox="1"/>
          <p:nvPr/>
        </p:nvSpPr>
        <p:spPr>
          <a:xfrm>
            <a:off x="-8496" y="1118200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804" y="1678043"/>
            <a:ext cx="5659688" cy="196202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국건영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데이터 기반 영양소 비율 지표화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종 핵심 영양소별 권장량 대비 실제 섭취량 비율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(Ratio)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산출하여 개인별 영양 상태를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정량화한다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영양소마다 다른 권장 기준치를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100% 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표준화하여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비교 분석한다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FC31DE-A9EA-FA60-EBB4-99571054F6B5}"/>
              </a:ext>
            </a:extLst>
          </p:cNvPr>
          <p:cNvSpPr/>
          <p:nvPr/>
        </p:nvSpPr>
        <p:spPr>
          <a:xfrm>
            <a:off x="9901217" y="1477252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E567056-F5F6-09F1-0B9D-2359F56E171B}"/>
              </a:ext>
            </a:extLst>
          </p:cNvPr>
          <p:cNvSpPr/>
          <p:nvPr/>
        </p:nvSpPr>
        <p:spPr>
          <a:xfrm>
            <a:off x="6205106" y="3200537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잘린 한쪽 모서리 37">
            <a:extLst>
              <a:ext uri="{FF2B5EF4-FFF2-40B4-BE49-F238E27FC236}">
                <a16:creationId xmlns:a16="http://schemas.microsoft.com/office/drawing/2014/main" id="{D804EE69-B6C0-2121-515B-B8E055951296}"/>
              </a:ext>
            </a:extLst>
          </p:cNvPr>
          <p:cNvSpPr/>
          <p:nvPr/>
        </p:nvSpPr>
        <p:spPr>
          <a:xfrm flipH="1">
            <a:off x="6256335" y="1526180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 txBox="1">
            <a:spLocks/>
          </p:cNvSpPr>
          <p:nvPr/>
        </p:nvSpPr>
        <p:spPr>
          <a:xfrm>
            <a:off x="6598822" y="1691338"/>
            <a:ext cx="5668068" cy="215324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K-means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건 페르소나 모델 구축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최적 군집 수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판별법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(Elbow Method)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을 통해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식습관 및 생활 패턴 데이터를 대표하는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개의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유형을 도출한다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각 군집의 영양 특성에 따라 ‘당류 과잉형’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‘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식이섬유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부족형’ 등 표준 페르소나 라이브러리를 정의한다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224FB5-52A5-8A1E-931F-5C2238161BB0}"/>
              </a:ext>
            </a:extLst>
          </p:cNvPr>
          <p:cNvSpPr txBox="1"/>
          <p:nvPr/>
        </p:nvSpPr>
        <p:spPr>
          <a:xfrm>
            <a:off x="6035706" y="1060679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ACE623-0660-A04A-BCEE-9D985604AC81}"/>
              </a:ext>
            </a:extLst>
          </p:cNvPr>
          <p:cNvSpPr/>
          <p:nvPr/>
        </p:nvSpPr>
        <p:spPr>
          <a:xfrm>
            <a:off x="3855151" y="4195415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16BFCFB-F095-15B9-4938-E29ED24CDD3C}"/>
              </a:ext>
            </a:extLst>
          </p:cNvPr>
          <p:cNvSpPr/>
          <p:nvPr/>
        </p:nvSpPr>
        <p:spPr>
          <a:xfrm>
            <a:off x="159040" y="5918700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잘린 한쪽 모서리 42">
            <a:extLst>
              <a:ext uri="{FF2B5EF4-FFF2-40B4-BE49-F238E27FC236}">
                <a16:creationId xmlns:a16="http://schemas.microsoft.com/office/drawing/2014/main" id="{4C7BE190-B3CD-B99C-A209-56AD28EA4722}"/>
              </a:ext>
            </a:extLst>
          </p:cNvPr>
          <p:cNvSpPr/>
          <p:nvPr/>
        </p:nvSpPr>
        <p:spPr>
          <a:xfrm flipH="1">
            <a:off x="210269" y="4244343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DF34DEF-64F2-F910-DDCA-9562CDC57915}"/>
              </a:ext>
            </a:extLst>
          </p:cNvPr>
          <p:cNvSpPr txBox="1">
            <a:spLocks/>
          </p:cNvSpPr>
          <p:nvPr/>
        </p:nvSpPr>
        <p:spPr>
          <a:xfrm>
            <a:off x="511109" y="4382390"/>
            <a:ext cx="5529280" cy="208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유사도 분석 및 군집 시각화를 통한 사용자 유형 매칭</a:t>
            </a:r>
            <a:endParaRPr lang="en-US" altLang="ko-KR" sz="26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유클리드 거리 분석으로 사용자 데이터와 각 군집 중심점 간의 거리를 계산하여 인접한 페르소나에 매칭한다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분석 결과를 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차원 평면에 사용자의 위치와 그룹 </a:t>
            </a:r>
            <a:b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평균간의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편차를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산점도로</a:t>
            </a:r>
            <a:r>
              <a:rPr lang="ko-KR" altLang="en-US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시각화한다</a:t>
            </a:r>
            <a:r>
              <a:rPr lang="en-US" altLang="ko-KR" sz="1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D1BFBDE-C942-F62B-999C-05D6D18A04A6}"/>
              </a:ext>
            </a:extLst>
          </p:cNvPr>
          <p:cNvSpPr/>
          <p:nvPr/>
        </p:nvSpPr>
        <p:spPr>
          <a:xfrm>
            <a:off x="9901217" y="4170711"/>
            <a:ext cx="2160000" cy="14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3BD4670-B682-8BEE-8828-A02AED1DFD56}"/>
              </a:ext>
            </a:extLst>
          </p:cNvPr>
          <p:cNvSpPr/>
          <p:nvPr/>
        </p:nvSpPr>
        <p:spPr>
          <a:xfrm>
            <a:off x="6205106" y="5893996"/>
            <a:ext cx="180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잘린 한쪽 모서리 46">
            <a:extLst>
              <a:ext uri="{FF2B5EF4-FFF2-40B4-BE49-F238E27FC236}">
                <a16:creationId xmlns:a16="http://schemas.microsoft.com/office/drawing/2014/main" id="{6F24D5FB-56B7-EFE2-A2D4-D704AE3610CA}"/>
              </a:ext>
            </a:extLst>
          </p:cNvPr>
          <p:cNvSpPr/>
          <p:nvPr/>
        </p:nvSpPr>
        <p:spPr>
          <a:xfrm flipH="1">
            <a:off x="6256335" y="4219639"/>
            <a:ext cx="5760000" cy="2340000"/>
          </a:xfrm>
          <a:prstGeom prst="snip1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A180C4-6709-0194-6E45-04D926791744}"/>
              </a:ext>
            </a:extLst>
          </p:cNvPr>
          <p:cNvSpPr txBox="1">
            <a:spLocks/>
          </p:cNvSpPr>
          <p:nvPr/>
        </p:nvSpPr>
        <p:spPr>
          <a:xfrm>
            <a:off x="6618767" y="4298428"/>
            <a:ext cx="5531327" cy="24434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 기반 식습관 유형 분석 가이드 </a:t>
            </a:r>
            <a:br>
              <a:rPr lang="en-US" altLang="ko-KR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제공 및 리포트 생성</a:t>
            </a:r>
            <a:endParaRPr lang="en-US" altLang="ko-KR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사용자가 속한 군집의 평균치와 사용자 데이터 간의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편차를 계산한다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‘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당류 섭취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15g 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감소 </a:t>
            </a:r>
            <a:r>
              <a:rPr lang="ko-KR" altLang="en-US" sz="18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필요’와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같은 개선 목표를 </a:t>
            </a:r>
            <a:b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도출하고 이를 기반으로 건강 관리 리포트를 생성한다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DFBD15-E861-5C41-1CE7-961190600342}"/>
              </a:ext>
            </a:extLst>
          </p:cNvPr>
          <p:cNvSpPr txBox="1"/>
          <p:nvPr/>
        </p:nvSpPr>
        <p:spPr>
          <a:xfrm>
            <a:off x="-49412" y="3865743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F8CAE1-FB4C-1E27-8859-256E85745D2D}"/>
              </a:ext>
            </a:extLst>
          </p:cNvPr>
          <p:cNvSpPr txBox="1"/>
          <p:nvPr/>
        </p:nvSpPr>
        <p:spPr>
          <a:xfrm>
            <a:off x="6078985" y="3822876"/>
            <a:ext cx="666262" cy="1323439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0" dirty="0">
                <a:solidFill>
                  <a:srgbClr val="FFC000"/>
                </a:solidFill>
                <a:effectLst>
                  <a:outerShdw blurRad="50800" dist="38100" dir="2700000" algn="tl" rotWithShape="0">
                    <a:schemeClr val="tx1">
                      <a:lumMod val="75000"/>
                      <a:lumOff val="25000"/>
                      <a:alpha val="40000"/>
                    </a:schemeClr>
                  </a:outerShdw>
                </a:effectLst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altLang="en-US" sz="8000" dirty="0">
              <a:solidFill>
                <a:srgbClr val="FFC000"/>
              </a:solidFill>
              <a:effectLst>
                <a:outerShdw blurRad="50800" dist="38100" dir="2700000" algn="tl" rotWithShape="0">
                  <a:schemeClr val="tx1">
                    <a:lumMod val="75000"/>
                    <a:lumOff val="25000"/>
                    <a:alpha val="40000"/>
                  </a:schemeClr>
                </a:outerShdw>
              </a:effectLst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7" y="317921"/>
            <a:ext cx="3239999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324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3131233" y="1059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 err="1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개발스케줄표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15" name="개체 14">
            <a:extLst>
              <a:ext uri="{FF2B5EF4-FFF2-40B4-BE49-F238E27FC236}">
                <a16:creationId xmlns:a16="http://schemas.microsoft.com/office/drawing/2014/main" id="{004656D7-4F15-D6A5-C4AE-1279F85EA1A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914955"/>
              </p:ext>
            </p:extLst>
          </p:nvPr>
        </p:nvGraphicFramePr>
        <p:xfrm>
          <a:off x="703846" y="1519463"/>
          <a:ext cx="10784308" cy="45066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984747" imgH="3336395" progId="Excel.Sheet.12">
                  <p:embed/>
                </p:oleObj>
              </mc:Choice>
              <mc:Fallback>
                <p:oleObj name="Worksheet" r:id="rId2" imgW="7984747" imgH="333639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3846" y="1519463"/>
                        <a:ext cx="10784308" cy="45066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2173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E2A7C5A-3C54-55C4-8F5A-F7CA712AFD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000" y="1017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374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5FD3967-159E-BED7-0E32-968710A60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000" y="1017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8089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B1E3B81-A44D-1129-BCCF-80B5D17E4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7432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41A2307-A79A-C41B-1381-A6D31B38B4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4078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B026C48-62D5-D4EA-CE84-5B67CE820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0714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2391D15-9D2F-A9DC-F4C0-D2CEB501B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3248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9E5380A-054D-21BA-1B18-D8BD8AD2A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8389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번호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E2B830A-0F6B-D0A2-2834-9C32BDCEC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012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A0B29F1-CB3D-85A0-B066-D252A6501F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00" y="1008000"/>
            <a:ext cx="10364647" cy="583011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-766" y="317921"/>
            <a:ext cx="2880000" cy="77512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7DF61-677C-F35A-C9F2-52DBB017AE96}"/>
              </a:ext>
            </a:extLst>
          </p:cNvPr>
          <p:cNvSpPr/>
          <p:nvPr/>
        </p:nvSpPr>
        <p:spPr>
          <a:xfrm>
            <a:off x="-766" y="1059394"/>
            <a:ext cx="2880000" cy="1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74B0A1-2171-CBBC-C714-22F54AD41B9A}"/>
              </a:ext>
            </a:extLst>
          </p:cNvPr>
          <p:cNvSpPr/>
          <p:nvPr/>
        </p:nvSpPr>
        <p:spPr>
          <a:xfrm>
            <a:off x="2771234" y="1068394"/>
            <a:ext cx="108000" cy="10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-63341" y="341275"/>
            <a:ext cx="5101624" cy="1289849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4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1696</TotalTime>
  <Words>316</Words>
  <Application>Microsoft Office PowerPoint</Application>
  <PresentationFormat>와이드스크린</PresentationFormat>
  <Paragraphs>50</Paragraphs>
  <Slides>14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Noto Sans KR</vt:lpstr>
      <vt:lpstr>Noto Sans KR Black</vt:lpstr>
      <vt:lpstr>맑은 고딕</vt:lpstr>
      <vt:lpstr>Arial</vt:lpstr>
      <vt:lpstr>Wingdings</vt:lpstr>
      <vt:lpstr>Office 테마</vt:lpstr>
      <vt:lpstr>Worksheet</vt:lpstr>
      <vt:lpstr>생성형 AI기반  영양소 패턴 분석을 통한  식습관 유형 분석 서비스</vt:lpstr>
      <vt:lpstr>   기획의도</vt:lpstr>
      <vt:lpstr>   기획의도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13</cp:revision>
  <dcterms:created xsi:type="dcterms:W3CDTF">2026-03-17T06:15:52Z</dcterms:created>
  <dcterms:modified xsi:type="dcterms:W3CDTF">2026-03-23T07:23:53Z</dcterms:modified>
</cp:coreProperties>
</file>