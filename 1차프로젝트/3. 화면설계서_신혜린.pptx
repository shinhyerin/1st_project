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4" r:id="rId3"/>
    <p:sldId id="265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52" autoAdjust="0"/>
    <p:restoredTop sz="94660"/>
  </p:normalViewPr>
  <p:slideViewPr>
    <p:cSldViewPr snapToGrid="0">
      <p:cViewPr varScale="1">
        <p:scale>
          <a:sx n="90" d="100"/>
          <a:sy n="90" d="100"/>
        </p:scale>
        <p:origin x="291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dirty="0"/>
              <a:t>Result</a:t>
            </a:r>
            <a:endParaRPr lang="ko-KR" alt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 값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5B61-4590-B0B5-B7F4083CCB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63647839"/>
        <c:axId val="1563648319"/>
      </c:scatterChart>
      <c:valAx>
        <c:axId val="156364783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563648319"/>
        <c:crosses val="autoZero"/>
        <c:crossBetween val="midCat"/>
      </c:valAx>
      <c:valAx>
        <c:axId val="15636483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563647839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BCDBB8-63E1-4884-AF10-3AABFF94D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8E9D5C3-D606-4729-9117-98BA9B675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DF8286-6A97-4932-ABCC-822E16429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F6AC35-ABEE-495D-9A4B-B786D96CA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F59262-8A58-4CAA-94B8-00DD6DF2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3508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D05374-E66F-4B62-8B29-8F656CBAE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971D54-0294-4192-8E8C-D343748A55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669C13F-CDC9-4C9F-A0E8-F0C9687B6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09EC98-3CD7-4473-B774-39981BEA2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E73FEA-4429-4923-A969-24CE2C2DA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063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76A5ED-79C5-4E6A-AF77-375E502DE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7C5EE4-1CEB-4B9F-A40F-9AB2481AE0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9193FB3-C248-440E-AF70-A5DBB2583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960A46-5FED-495C-B398-E683CA888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FF8969-1E11-4EA2-BCD3-4E2588C92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9732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C01295-3D8C-457F-AD30-D6ED84EB0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264D4B-0E4B-40E4-94ED-0AD2D3BACB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CCBDB56-FEFB-46C0-AA96-B7CDC2E4A9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8494C3-810E-44D3-9925-9A670EAC7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C0C064-3C31-48DD-85DF-0FE4C0151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4990C19-0D8E-42C9-9E6A-5A79D51B9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1332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A7987D-9BAE-4647-A9FE-2A529134B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1B7FF1-4B3B-4C90-8BCC-4AF8B2B16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B98539-921A-424D-9FBB-7B347FEB88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B27179F-92AD-4567-8052-222C6BE5BF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930351B-712F-43CC-8A70-FF28B2807F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E6B8232-4CA0-4035-BCA3-F68268AB0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E2CD6FD-4081-4869-BD51-11BCA676D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3930AB6-3375-4136-9C04-74D37D80D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15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FD940D-5DAA-47A8-ADFC-8A6CE72E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B6939FC-49C7-4D9C-BE21-81B2C6A53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D59F58-A8FA-4001-A9F2-66928AA9F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9BE46B2-7B66-4E31-8294-7264578C8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1631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B56FBF1-4D4C-400B-9DA8-BEAC0D087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EB5CCD8-FE95-43BE-8573-3B8039145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238136-450D-4322-ADF1-23061019C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6192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41A3F4-2DC8-44C1-AB6E-7E6E204C6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826170-5472-420F-8D66-C1C04C402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776911-D00E-4E91-81C9-0A99A6E547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D51F84-95EA-4E06-BD2B-E594AA317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01CC40-B14D-425C-A1CD-31164EC69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9D8599-59EB-494C-8B3A-E67D21531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788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74AE85-C190-43AD-B515-EC0937F70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B39410-4C65-4465-87EC-E94893FE3C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ED4B91E-493F-4CD7-9241-83C2E3B21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1CA77D-3EC3-4BCC-9C9C-F20630D0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703083C-5BC9-44C7-AC50-7342E3BAC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B706571-1118-4068-8A5C-1A92046AA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0107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CD66D3-17BC-4468-A30B-4CDE6FF7C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9DB3422-7D64-4B70-8636-5E5D71046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8DBA4F-183F-4A01-BE0E-98CB27CEE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D91F97-70D3-4926-B274-ED0B0454F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34291F-20B0-4FFD-A329-7DC7089CE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847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8665CA1-5F98-4432-A057-67A63ABC13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DD6833-0894-4453-8079-9B2CA4C12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9FA65B-5C8C-4599-9EB0-083C4EC70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9DD3DF-AE8B-4EE0-BBD5-6BCBDA590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D11784-F1D0-43EE-9663-7EBEF1DD2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70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D4CEA81-6908-43EB-A647-5071ECA6B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A6373B-0026-4D10-8FFA-6890CB2612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9B9EDB-3317-452E-ACBC-CA15ACB759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77CA5E-8DBA-40B9-972D-5B7303BF6C62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94697B-EB0D-4BC8-BB70-47598A572E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4128F5-0979-4543-B688-C8D01C460E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708E3D-C4CA-48FD-BD9C-3517FDFB9C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350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52078" y="1666463"/>
            <a:ext cx="1019921" cy="51865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CFA8DF2-AF6A-D0EB-9716-004C90C2489C}"/>
              </a:ext>
            </a:extLst>
          </p:cNvPr>
          <p:cNvSpPr/>
          <p:nvPr/>
        </p:nvSpPr>
        <p:spPr>
          <a:xfrm>
            <a:off x="0" y="2416793"/>
            <a:ext cx="9500752" cy="443300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0" y="1505621"/>
            <a:ext cx="9500752" cy="53441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7" y="1729293"/>
            <a:ext cx="8505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  Home	    Product    				    	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93CE08-DFE8-0490-4E19-76220F0B6A0D}"/>
              </a:ext>
            </a:extLst>
          </p:cNvPr>
          <p:cNvSpPr txBox="1"/>
          <p:nvPr/>
        </p:nvSpPr>
        <p:spPr>
          <a:xfrm>
            <a:off x="2760838" y="3673667"/>
            <a:ext cx="3961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Service Name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D690D8-E34F-BEAD-E09E-D5EB27417818}"/>
              </a:ext>
            </a:extLst>
          </p:cNvPr>
          <p:cNvSpPr/>
          <p:nvPr/>
        </p:nvSpPr>
        <p:spPr>
          <a:xfrm>
            <a:off x="4069383" y="5469450"/>
            <a:ext cx="1478857" cy="816293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Analyze</a:t>
            </a:r>
            <a:endParaRPr lang="ko-KR" altLang="en-US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L 도형 13">
            <a:extLst>
              <a:ext uri="{FF2B5EF4-FFF2-40B4-BE49-F238E27FC236}">
                <a16:creationId xmlns:a16="http://schemas.microsoft.com/office/drawing/2014/main" id="{2776EA51-28E8-166B-3958-F887478B1A6B}"/>
              </a:ext>
            </a:extLst>
          </p:cNvPr>
          <p:cNvSpPr/>
          <p:nvPr/>
        </p:nvSpPr>
        <p:spPr>
          <a:xfrm rot="2700000">
            <a:off x="357848" y="4234859"/>
            <a:ext cx="252000" cy="252000"/>
          </a:xfrm>
          <a:prstGeom prst="corne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L 도형 14">
            <a:extLst>
              <a:ext uri="{FF2B5EF4-FFF2-40B4-BE49-F238E27FC236}">
                <a16:creationId xmlns:a16="http://schemas.microsoft.com/office/drawing/2014/main" id="{8648E669-45CA-2F49-AA95-707ADE188A72}"/>
              </a:ext>
            </a:extLst>
          </p:cNvPr>
          <p:cNvSpPr/>
          <p:nvPr/>
        </p:nvSpPr>
        <p:spPr>
          <a:xfrm rot="13500000">
            <a:off x="8981521" y="4234859"/>
            <a:ext cx="252000" cy="252000"/>
          </a:xfrm>
          <a:prstGeom prst="corne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B860E4B-8998-E74D-F7C9-5051768E3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7246269"/>
              </p:ext>
            </p:extLst>
          </p:nvPr>
        </p:nvGraphicFramePr>
        <p:xfrm>
          <a:off x="9593342" y="1515542"/>
          <a:ext cx="2528345" cy="353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255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Main-1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으로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Main-1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으로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Service 1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과 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Service 2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를 소개하는 페이지로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8026692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Login-1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로 이동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로그인 후에는 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My page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로 바뀜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6029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5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햄버거셋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창 크기를 줄였을 시 나타남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926814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6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캐러셀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5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초 뒤에 자동으로 다음페이지로 </a:t>
                      </a:r>
                      <a:r>
                        <a:rPr lang="ko-KR" altLang="en-US" sz="14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넘어감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</a:t>
                      </a:r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2618069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7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Analyze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으로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7436356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C921AC35-00C1-B091-58EF-554FF9F19ADA}"/>
              </a:ext>
            </a:extLst>
          </p:cNvPr>
          <p:cNvSpPr/>
          <p:nvPr/>
        </p:nvSpPr>
        <p:spPr>
          <a:xfrm>
            <a:off x="0" y="1505621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5353D69-F9FD-B47F-D3EA-FD4348584D54}"/>
              </a:ext>
            </a:extLst>
          </p:cNvPr>
          <p:cNvSpPr/>
          <p:nvPr/>
        </p:nvSpPr>
        <p:spPr>
          <a:xfrm>
            <a:off x="1058393" y="1476153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80CC7B01-5280-7340-393A-D322C8CF5525}"/>
              </a:ext>
            </a:extLst>
          </p:cNvPr>
          <p:cNvSpPr/>
          <p:nvPr/>
        </p:nvSpPr>
        <p:spPr>
          <a:xfrm>
            <a:off x="2118889" y="1474157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EBBFE3D8-A5FC-AA15-4529-586C1541F97A}"/>
              </a:ext>
            </a:extLst>
          </p:cNvPr>
          <p:cNvSpPr/>
          <p:nvPr/>
        </p:nvSpPr>
        <p:spPr>
          <a:xfrm>
            <a:off x="7458632" y="1505621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1CAEED0-4E24-5718-8E1E-8004931995A4}"/>
              </a:ext>
            </a:extLst>
          </p:cNvPr>
          <p:cNvSpPr/>
          <p:nvPr/>
        </p:nvSpPr>
        <p:spPr>
          <a:xfrm>
            <a:off x="8596347" y="1490096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25AB4C8D-5D0A-7527-9F8A-11E667F3A42A}"/>
              </a:ext>
            </a:extLst>
          </p:cNvPr>
          <p:cNvSpPr/>
          <p:nvPr/>
        </p:nvSpPr>
        <p:spPr>
          <a:xfrm>
            <a:off x="305657" y="3719320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1A15F6C-A203-2F61-2D75-E0D67CFCB7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6362385"/>
              </p:ext>
            </p:extLst>
          </p:nvPr>
        </p:nvGraphicFramePr>
        <p:xfrm>
          <a:off x="0" y="324403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Main-1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sp>
        <p:nvSpPr>
          <p:cNvPr id="5" name="빼기 기호 4">
            <a:extLst>
              <a:ext uri="{FF2B5EF4-FFF2-40B4-BE49-F238E27FC236}">
                <a16:creationId xmlns:a16="http://schemas.microsoft.com/office/drawing/2014/main" id="{8A7C8C0D-B03E-C1D9-B60D-5A451679559E}"/>
              </a:ext>
            </a:extLst>
          </p:cNvPr>
          <p:cNvSpPr/>
          <p:nvPr/>
        </p:nvSpPr>
        <p:spPr>
          <a:xfrm>
            <a:off x="8962332" y="1758261"/>
            <a:ext cx="411632" cy="45719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빼기 기호 5">
            <a:extLst>
              <a:ext uri="{FF2B5EF4-FFF2-40B4-BE49-F238E27FC236}">
                <a16:creationId xmlns:a16="http://schemas.microsoft.com/office/drawing/2014/main" id="{89F41FB3-7B34-B74D-961A-569E855281CD}"/>
              </a:ext>
            </a:extLst>
          </p:cNvPr>
          <p:cNvSpPr/>
          <p:nvPr/>
        </p:nvSpPr>
        <p:spPr>
          <a:xfrm>
            <a:off x="8963340" y="1928829"/>
            <a:ext cx="411632" cy="45719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빼기 기호 17">
            <a:extLst>
              <a:ext uri="{FF2B5EF4-FFF2-40B4-BE49-F238E27FC236}">
                <a16:creationId xmlns:a16="http://schemas.microsoft.com/office/drawing/2014/main" id="{C95DD8EE-FDB9-1921-770C-A2E7BB6CF64E}"/>
              </a:ext>
            </a:extLst>
          </p:cNvPr>
          <p:cNvSpPr/>
          <p:nvPr/>
        </p:nvSpPr>
        <p:spPr>
          <a:xfrm>
            <a:off x="8963340" y="2087144"/>
            <a:ext cx="411632" cy="45719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49D9CA5-258C-9FEB-E2B7-8E8F0A172C8C}"/>
              </a:ext>
            </a:extLst>
          </p:cNvPr>
          <p:cNvSpPr/>
          <p:nvPr/>
        </p:nvSpPr>
        <p:spPr>
          <a:xfrm>
            <a:off x="3830186" y="5299873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7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3868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52078" y="1645512"/>
            <a:ext cx="1019921" cy="51865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CFA8DF2-AF6A-D0EB-9716-004C90C2489C}"/>
              </a:ext>
            </a:extLst>
          </p:cNvPr>
          <p:cNvSpPr/>
          <p:nvPr/>
        </p:nvSpPr>
        <p:spPr>
          <a:xfrm>
            <a:off x="0" y="3781463"/>
            <a:ext cx="9500752" cy="3068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0" y="1505621"/>
            <a:ext cx="9500752" cy="53441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7" y="1729293"/>
            <a:ext cx="8980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Home	   Product    				    	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93CE08-DFE8-0490-4E19-76220F0B6A0D}"/>
              </a:ext>
            </a:extLst>
          </p:cNvPr>
          <p:cNvSpPr txBox="1"/>
          <p:nvPr/>
        </p:nvSpPr>
        <p:spPr>
          <a:xfrm>
            <a:off x="2828091" y="4283831"/>
            <a:ext cx="3961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Service Name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D690D8-E34F-BEAD-E09E-D5EB27417818}"/>
              </a:ext>
            </a:extLst>
          </p:cNvPr>
          <p:cNvSpPr/>
          <p:nvPr/>
        </p:nvSpPr>
        <p:spPr>
          <a:xfrm>
            <a:off x="4069383" y="5469450"/>
            <a:ext cx="1478857" cy="816293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Analyze</a:t>
            </a:r>
            <a:endParaRPr lang="ko-KR" altLang="en-US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L 도형 13">
            <a:extLst>
              <a:ext uri="{FF2B5EF4-FFF2-40B4-BE49-F238E27FC236}">
                <a16:creationId xmlns:a16="http://schemas.microsoft.com/office/drawing/2014/main" id="{2776EA51-28E8-166B-3958-F887478B1A6B}"/>
              </a:ext>
            </a:extLst>
          </p:cNvPr>
          <p:cNvSpPr/>
          <p:nvPr/>
        </p:nvSpPr>
        <p:spPr>
          <a:xfrm rot="2700000">
            <a:off x="357848" y="4234859"/>
            <a:ext cx="252000" cy="252000"/>
          </a:xfrm>
          <a:prstGeom prst="corne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L 도형 14">
            <a:extLst>
              <a:ext uri="{FF2B5EF4-FFF2-40B4-BE49-F238E27FC236}">
                <a16:creationId xmlns:a16="http://schemas.microsoft.com/office/drawing/2014/main" id="{8648E669-45CA-2F49-AA95-707ADE188A72}"/>
              </a:ext>
            </a:extLst>
          </p:cNvPr>
          <p:cNvSpPr/>
          <p:nvPr/>
        </p:nvSpPr>
        <p:spPr>
          <a:xfrm rot="13500000">
            <a:off x="8981521" y="4234859"/>
            <a:ext cx="252000" cy="252000"/>
          </a:xfrm>
          <a:prstGeom prst="corne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B860E4B-8998-E74D-F7C9-5051768E3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6965914"/>
              </p:ext>
            </p:extLst>
          </p:nvPr>
        </p:nvGraphicFramePr>
        <p:xfrm>
          <a:off x="9593342" y="1515542"/>
          <a:ext cx="2528345" cy="88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255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네비게이션 바에 마우스를 가져가면 열린다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C921AC35-00C1-B091-58EF-554FF9F19ADA}"/>
              </a:ext>
            </a:extLst>
          </p:cNvPr>
          <p:cNvSpPr/>
          <p:nvPr/>
        </p:nvSpPr>
        <p:spPr>
          <a:xfrm>
            <a:off x="1855786" y="1426446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1A15F6C-A203-2F61-2D75-E0D67CFCB7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058889"/>
              </p:ext>
            </p:extLst>
          </p:nvPr>
        </p:nvGraphicFramePr>
        <p:xfrm>
          <a:off x="0" y="330121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Nav-1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Main&gt;Navigation Bar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F8CE66-6FB4-9E4E-8E45-5E7C72CA231C}"/>
              </a:ext>
            </a:extLst>
          </p:cNvPr>
          <p:cNvSpPr txBox="1"/>
          <p:nvPr/>
        </p:nvSpPr>
        <p:spPr>
          <a:xfrm>
            <a:off x="2334180" y="2269565"/>
            <a:ext cx="10145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Service 1</a:t>
            </a:r>
          </a:p>
          <a:p>
            <a:endParaRPr lang="en-US" altLang="ko-KR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Service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D57B6C-944F-E3C6-8254-602FE66D2D75}"/>
              </a:ext>
            </a:extLst>
          </p:cNvPr>
          <p:cNvSpPr txBox="1"/>
          <p:nvPr/>
        </p:nvSpPr>
        <p:spPr>
          <a:xfrm>
            <a:off x="7828656" y="2269564"/>
            <a:ext cx="10145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Sign up</a:t>
            </a:r>
          </a:p>
          <a:p>
            <a:endParaRPr lang="en-US" altLang="ko-KR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ko-KR" alt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1668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52078" y="1687765"/>
            <a:ext cx="1019921" cy="518656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CFA8DF2-AF6A-D0EB-9716-004C90C2489C}"/>
              </a:ext>
            </a:extLst>
          </p:cNvPr>
          <p:cNvSpPr/>
          <p:nvPr/>
        </p:nvSpPr>
        <p:spPr>
          <a:xfrm>
            <a:off x="0" y="2416793"/>
            <a:ext cx="9500752" cy="443300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0" y="1505621"/>
            <a:ext cx="9500752" cy="53441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7" y="1729293"/>
            <a:ext cx="8505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  Home	    Product    				    	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93CE08-DFE8-0490-4E19-76220F0B6A0D}"/>
              </a:ext>
            </a:extLst>
          </p:cNvPr>
          <p:cNvSpPr txBox="1"/>
          <p:nvPr/>
        </p:nvSpPr>
        <p:spPr>
          <a:xfrm>
            <a:off x="2760838" y="3673667"/>
            <a:ext cx="3961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Service Name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D690D8-E34F-BEAD-E09E-D5EB27417818}"/>
              </a:ext>
            </a:extLst>
          </p:cNvPr>
          <p:cNvSpPr/>
          <p:nvPr/>
        </p:nvSpPr>
        <p:spPr>
          <a:xfrm>
            <a:off x="4069383" y="5469450"/>
            <a:ext cx="1478857" cy="816293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Analyze</a:t>
            </a:r>
            <a:endParaRPr lang="ko-KR" altLang="en-US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L 도형 13">
            <a:extLst>
              <a:ext uri="{FF2B5EF4-FFF2-40B4-BE49-F238E27FC236}">
                <a16:creationId xmlns:a16="http://schemas.microsoft.com/office/drawing/2014/main" id="{2776EA51-28E8-166B-3958-F887478B1A6B}"/>
              </a:ext>
            </a:extLst>
          </p:cNvPr>
          <p:cNvSpPr/>
          <p:nvPr/>
        </p:nvSpPr>
        <p:spPr>
          <a:xfrm rot="2700000">
            <a:off x="357848" y="4234859"/>
            <a:ext cx="252000" cy="252000"/>
          </a:xfrm>
          <a:prstGeom prst="corne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L 도형 14">
            <a:extLst>
              <a:ext uri="{FF2B5EF4-FFF2-40B4-BE49-F238E27FC236}">
                <a16:creationId xmlns:a16="http://schemas.microsoft.com/office/drawing/2014/main" id="{8648E669-45CA-2F49-AA95-707ADE188A72}"/>
              </a:ext>
            </a:extLst>
          </p:cNvPr>
          <p:cNvSpPr/>
          <p:nvPr/>
        </p:nvSpPr>
        <p:spPr>
          <a:xfrm rot="13500000">
            <a:off x="8981521" y="4234859"/>
            <a:ext cx="252000" cy="252000"/>
          </a:xfrm>
          <a:prstGeom prst="corner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B860E4B-8998-E74D-F7C9-5051768E3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2783334"/>
              </p:ext>
            </p:extLst>
          </p:nvPr>
        </p:nvGraphicFramePr>
        <p:xfrm>
          <a:off x="9593342" y="1515542"/>
          <a:ext cx="2528345" cy="140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255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Hamberger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Menu</a:t>
                      </a:r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을 클릭하면 나오는 </a:t>
                      </a:r>
                      <a:r>
                        <a:rPr lang="en-US" altLang="ko-KR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Side Menu</a:t>
                      </a:r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65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▽ 누르면 하위 메뉴가 나옴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1A15F6C-A203-2F61-2D75-E0D67CFCB7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761062"/>
              </p:ext>
            </p:extLst>
          </p:nvPr>
        </p:nvGraphicFramePr>
        <p:xfrm>
          <a:off x="7698" y="341755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Nav-1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Hamberger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Menu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sp>
        <p:nvSpPr>
          <p:cNvPr id="5" name="빼기 기호 4">
            <a:extLst>
              <a:ext uri="{FF2B5EF4-FFF2-40B4-BE49-F238E27FC236}">
                <a16:creationId xmlns:a16="http://schemas.microsoft.com/office/drawing/2014/main" id="{8A7C8C0D-B03E-C1D9-B60D-5A451679559E}"/>
              </a:ext>
            </a:extLst>
          </p:cNvPr>
          <p:cNvSpPr/>
          <p:nvPr/>
        </p:nvSpPr>
        <p:spPr>
          <a:xfrm>
            <a:off x="8962332" y="1758261"/>
            <a:ext cx="411632" cy="45719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빼기 기호 5">
            <a:extLst>
              <a:ext uri="{FF2B5EF4-FFF2-40B4-BE49-F238E27FC236}">
                <a16:creationId xmlns:a16="http://schemas.microsoft.com/office/drawing/2014/main" id="{89F41FB3-7B34-B74D-961A-569E855281CD}"/>
              </a:ext>
            </a:extLst>
          </p:cNvPr>
          <p:cNvSpPr/>
          <p:nvPr/>
        </p:nvSpPr>
        <p:spPr>
          <a:xfrm>
            <a:off x="8963340" y="1928829"/>
            <a:ext cx="411632" cy="45719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빼기 기호 17">
            <a:extLst>
              <a:ext uri="{FF2B5EF4-FFF2-40B4-BE49-F238E27FC236}">
                <a16:creationId xmlns:a16="http://schemas.microsoft.com/office/drawing/2014/main" id="{C95DD8EE-FDB9-1921-770C-A2E7BB6CF64E}"/>
              </a:ext>
            </a:extLst>
          </p:cNvPr>
          <p:cNvSpPr/>
          <p:nvPr/>
        </p:nvSpPr>
        <p:spPr>
          <a:xfrm>
            <a:off x="8963340" y="2087144"/>
            <a:ext cx="411632" cy="45719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4847FA3-5CE3-D2C5-8BD2-41E58080A398}"/>
              </a:ext>
            </a:extLst>
          </p:cNvPr>
          <p:cNvSpPr/>
          <p:nvPr/>
        </p:nvSpPr>
        <p:spPr>
          <a:xfrm>
            <a:off x="0" y="1515543"/>
            <a:ext cx="3463820" cy="534245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en-US" altLang="ko-KR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Logo</a:t>
            </a:r>
          </a:p>
          <a:p>
            <a:endParaRPr lang="en-US" altLang="ko-KR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Home</a:t>
            </a:r>
          </a:p>
          <a:p>
            <a:endParaRPr lang="en-US" altLang="ko-KR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Product  </a:t>
            </a:r>
            <a:r>
              <a:rPr lang="ko-KR" altLang="en-US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▽</a:t>
            </a:r>
            <a:endParaRPr lang="en-US" altLang="ko-KR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Login </a:t>
            </a:r>
            <a:r>
              <a:rPr lang="ko-KR" altLang="en-US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▽</a:t>
            </a:r>
            <a:endParaRPr lang="en-US" altLang="ko-KR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endParaRPr lang="ko-KR" altLang="en-US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C921AC35-00C1-B091-58EF-554FF9F19ADA}"/>
              </a:ext>
            </a:extLst>
          </p:cNvPr>
          <p:cNvSpPr/>
          <p:nvPr/>
        </p:nvSpPr>
        <p:spPr>
          <a:xfrm>
            <a:off x="-10329" y="1302726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5353D69-F9FD-B47F-D3EA-FD4348584D54}"/>
              </a:ext>
            </a:extLst>
          </p:cNvPr>
          <p:cNvSpPr/>
          <p:nvPr/>
        </p:nvSpPr>
        <p:spPr>
          <a:xfrm>
            <a:off x="1324911" y="3095263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2446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50166" y="1652080"/>
            <a:ext cx="1019921" cy="5186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1" y="1515542"/>
            <a:ext cx="9483114" cy="53342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8" y="1718288"/>
            <a:ext cx="8980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Home	   About us    Product    				    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CC6A057-325B-FCC0-DA94-FF6996A000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4929204"/>
              </p:ext>
            </p:extLst>
          </p:nvPr>
        </p:nvGraphicFramePr>
        <p:xfrm>
          <a:off x="0" y="332981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2220112506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3905594216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1668039903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2691081796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2829929377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310506637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4185355027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302464932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Main-2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8473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Main&gt;Scroll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645360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B860E4B-8998-E74D-F7C9-5051768E3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6646530"/>
              </p:ext>
            </p:extLst>
          </p:nvPr>
        </p:nvGraphicFramePr>
        <p:xfrm>
          <a:off x="9593342" y="1515542"/>
          <a:ext cx="2448492" cy="3322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02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영양소 이름 클릭하면 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번에 각 영양소에 대한 정보가 뜸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(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사용자의 영양소 정보 아님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.)</a:t>
                      </a:r>
                      <a:endParaRPr lang="ko-KR" altLang="en-US" sz="16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번에서 아무것도 클릭하지 않은 상태에서는 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‘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영양소 정보를 보려면 영양소를 클릭해주세요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’ 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라고 </a:t>
                      </a:r>
                      <a:r>
                        <a:rPr lang="ko-KR" altLang="en-US" sz="16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쓰여있음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endParaRPr lang="ko-KR" altLang="en-US" sz="16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하단 바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데이터 출처가 </a:t>
                      </a:r>
                      <a:r>
                        <a:rPr lang="ko-KR" altLang="en-US" sz="16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적혀있음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endParaRPr lang="ko-KR" altLang="en-US" sz="16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8026692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D44BB6C-138D-3FEB-DF4B-4338D173B749}"/>
              </a:ext>
            </a:extLst>
          </p:cNvPr>
          <p:cNvSpPr/>
          <p:nvPr/>
        </p:nvSpPr>
        <p:spPr>
          <a:xfrm>
            <a:off x="325112" y="3275497"/>
            <a:ext cx="5147284" cy="254957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575269A-1D97-904D-CCE4-7778806DF4CF}"/>
              </a:ext>
            </a:extLst>
          </p:cNvPr>
          <p:cNvSpPr/>
          <p:nvPr/>
        </p:nvSpPr>
        <p:spPr>
          <a:xfrm>
            <a:off x="555225" y="3596665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449FBAA-AB92-F30D-7505-0D9E1C4BBE08}"/>
              </a:ext>
            </a:extLst>
          </p:cNvPr>
          <p:cNvSpPr/>
          <p:nvPr/>
        </p:nvSpPr>
        <p:spPr>
          <a:xfrm>
            <a:off x="1779472" y="3608428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EA7869F-AD2B-0A54-D7B7-DA105755C511}"/>
              </a:ext>
            </a:extLst>
          </p:cNvPr>
          <p:cNvSpPr/>
          <p:nvPr/>
        </p:nvSpPr>
        <p:spPr>
          <a:xfrm>
            <a:off x="2995643" y="3608428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0798D79-4C50-89E3-D89F-9AA1FB4B622B}"/>
              </a:ext>
            </a:extLst>
          </p:cNvPr>
          <p:cNvSpPr/>
          <p:nvPr/>
        </p:nvSpPr>
        <p:spPr>
          <a:xfrm>
            <a:off x="4211814" y="3608428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4412F6B-3018-CD17-1CC9-EBBFFEEF8321}"/>
              </a:ext>
            </a:extLst>
          </p:cNvPr>
          <p:cNvSpPr/>
          <p:nvPr/>
        </p:nvSpPr>
        <p:spPr>
          <a:xfrm>
            <a:off x="518889" y="4621393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0002A724-AC89-69A1-3E32-87C9A1EB4E78}"/>
              </a:ext>
            </a:extLst>
          </p:cNvPr>
          <p:cNvSpPr/>
          <p:nvPr/>
        </p:nvSpPr>
        <p:spPr>
          <a:xfrm>
            <a:off x="1779471" y="4647142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EB41C83-D165-AD97-66EE-C736D5DE1FC9}"/>
              </a:ext>
            </a:extLst>
          </p:cNvPr>
          <p:cNvSpPr/>
          <p:nvPr/>
        </p:nvSpPr>
        <p:spPr>
          <a:xfrm>
            <a:off x="2977476" y="4647142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B8A8A9D-3C0E-3834-33D1-06F436ADC526}"/>
              </a:ext>
            </a:extLst>
          </p:cNvPr>
          <p:cNvSpPr/>
          <p:nvPr/>
        </p:nvSpPr>
        <p:spPr>
          <a:xfrm>
            <a:off x="4211814" y="4651771"/>
            <a:ext cx="1071847" cy="7387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BDF2EC4-641F-BA3D-45A5-70EEE27AE66F}"/>
              </a:ext>
            </a:extLst>
          </p:cNvPr>
          <p:cNvCxnSpPr>
            <a:cxnSpLocks/>
          </p:cNvCxnSpPr>
          <p:nvPr/>
        </p:nvCxnSpPr>
        <p:spPr>
          <a:xfrm flipV="1">
            <a:off x="54501" y="2232759"/>
            <a:ext cx="9428614" cy="180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A8E7E85-2361-E932-CDD2-146B52D9C770}"/>
              </a:ext>
            </a:extLst>
          </p:cNvPr>
          <p:cNvSpPr/>
          <p:nvPr/>
        </p:nvSpPr>
        <p:spPr>
          <a:xfrm>
            <a:off x="0" y="6035518"/>
            <a:ext cx="9483114" cy="81427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06F7BD2-EA25-148E-D448-8BE1B284F57C}"/>
              </a:ext>
            </a:extLst>
          </p:cNvPr>
          <p:cNvSpPr/>
          <p:nvPr/>
        </p:nvSpPr>
        <p:spPr>
          <a:xfrm>
            <a:off x="5671473" y="3267779"/>
            <a:ext cx="3647921" cy="241679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Nutrient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Description</a:t>
            </a:r>
            <a:endParaRPr lang="ko-KR" altLang="en-US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E29A71BE-7B71-BF4C-E6EF-19A4AA4B3576}"/>
              </a:ext>
            </a:extLst>
          </p:cNvPr>
          <p:cNvSpPr/>
          <p:nvPr/>
        </p:nvSpPr>
        <p:spPr>
          <a:xfrm>
            <a:off x="209193" y="3118271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357D74CF-8C1D-C969-F483-1A1E62911052}"/>
              </a:ext>
            </a:extLst>
          </p:cNvPr>
          <p:cNvSpPr/>
          <p:nvPr/>
        </p:nvSpPr>
        <p:spPr>
          <a:xfrm>
            <a:off x="5472396" y="3022578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82DEA9FF-80A1-0E4A-BC6F-1CC0524F0280}"/>
              </a:ext>
            </a:extLst>
          </p:cNvPr>
          <p:cNvSpPr/>
          <p:nvPr/>
        </p:nvSpPr>
        <p:spPr>
          <a:xfrm>
            <a:off x="395883" y="6159564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DB4F5A-6E74-38DA-2476-755DE2551278}"/>
              </a:ext>
            </a:extLst>
          </p:cNvPr>
          <p:cNvSpPr txBox="1"/>
          <p:nvPr/>
        </p:nvSpPr>
        <p:spPr>
          <a:xfrm>
            <a:off x="555226" y="3769307"/>
            <a:ext cx="4728436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solidFill>
                  <a:srgbClr val="0A0A0A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Carbs	     Protein           Fat                Sugar</a:t>
            </a:r>
          </a:p>
          <a:p>
            <a:endParaRPr lang="en-US" altLang="ko-KR" b="1" dirty="0">
              <a:solidFill>
                <a:srgbClr val="0A0A0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b="1" dirty="0">
              <a:solidFill>
                <a:srgbClr val="0A0A0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900" b="1" dirty="0">
              <a:solidFill>
                <a:srgbClr val="0A0A0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400" b="1" i="0" dirty="0">
                <a:solidFill>
                  <a:srgbClr val="0A0A0A"/>
                </a:solidFill>
                <a:effectLst/>
                <a:latin typeface="Arial" panose="020B0604020202020204" pitchFamily="34" charset="0"/>
              </a:rPr>
              <a:t>Natrium          </a:t>
            </a:r>
            <a:r>
              <a:rPr lang="en-US" altLang="ko-KR" sz="1400" b="1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Cholesterol        </a:t>
            </a:r>
            <a:r>
              <a:rPr lang="en-US" altLang="ko-KR" sz="1400" b="1" i="0" dirty="0">
                <a:solidFill>
                  <a:srgbClr val="0A0A0A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saturated          Dietary 			fat                    fiber</a:t>
            </a:r>
            <a:endParaRPr lang="ko-KR" altLang="en-US" b="1" dirty="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7012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50166" y="1641534"/>
            <a:ext cx="1019921" cy="5186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1" y="1515542"/>
            <a:ext cx="9483114" cy="53342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8" y="1718288"/>
            <a:ext cx="8980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Home	   About us    Product    				    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BDF2EC4-641F-BA3D-45A5-70EEE27AE66F}"/>
              </a:ext>
            </a:extLst>
          </p:cNvPr>
          <p:cNvCxnSpPr>
            <a:cxnSpLocks/>
          </p:cNvCxnSpPr>
          <p:nvPr/>
        </p:nvCxnSpPr>
        <p:spPr>
          <a:xfrm flipV="1">
            <a:off x="54501" y="2232759"/>
            <a:ext cx="9428614" cy="180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E29A71BE-7B71-BF4C-E6EF-19A4AA4B3576}"/>
              </a:ext>
            </a:extLst>
          </p:cNvPr>
          <p:cNvSpPr/>
          <p:nvPr/>
        </p:nvSpPr>
        <p:spPr>
          <a:xfrm>
            <a:off x="2744714" y="3290314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357D74CF-8C1D-C969-F483-1A1E62911052}"/>
              </a:ext>
            </a:extLst>
          </p:cNvPr>
          <p:cNvSpPr/>
          <p:nvPr/>
        </p:nvSpPr>
        <p:spPr>
          <a:xfrm>
            <a:off x="4166274" y="4599729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82DEA9FF-80A1-0E4A-BC6F-1CC0524F0280}"/>
              </a:ext>
            </a:extLst>
          </p:cNvPr>
          <p:cNvSpPr/>
          <p:nvPr/>
        </p:nvSpPr>
        <p:spPr>
          <a:xfrm>
            <a:off x="4166274" y="5077078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ADFCED-9C7F-D7A8-4511-27D04F00442B}"/>
              </a:ext>
            </a:extLst>
          </p:cNvPr>
          <p:cNvSpPr/>
          <p:nvPr/>
        </p:nvSpPr>
        <p:spPr>
          <a:xfrm>
            <a:off x="3258541" y="3666856"/>
            <a:ext cx="3118649" cy="3380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58F91C4-3882-3317-1969-24FEE0BFC77E}"/>
              </a:ext>
            </a:extLst>
          </p:cNvPr>
          <p:cNvSpPr/>
          <p:nvPr/>
        </p:nvSpPr>
        <p:spPr>
          <a:xfrm>
            <a:off x="3258541" y="4218106"/>
            <a:ext cx="3118649" cy="3380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B5E3F5-74AD-9B58-BD2E-53DF18783152}"/>
              </a:ext>
            </a:extLst>
          </p:cNvPr>
          <p:cNvSpPr txBox="1"/>
          <p:nvPr/>
        </p:nvSpPr>
        <p:spPr>
          <a:xfrm>
            <a:off x="2477364" y="3682531"/>
            <a:ext cx="15623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ID:</a:t>
            </a: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PW: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4D4EA8-46F9-9725-8FAD-9B6ED03B00F6}"/>
              </a:ext>
            </a:extLst>
          </p:cNvPr>
          <p:cNvSpPr txBox="1"/>
          <p:nvPr/>
        </p:nvSpPr>
        <p:spPr>
          <a:xfrm>
            <a:off x="4644668" y="4615518"/>
            <a:ext cx="21443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Sign up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| Login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Forget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Password?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EE5A511-2817-8D8F-523F-D77F3CFF59A5}"/>
              </a:ext>
            </a:extLst>
          </p:cNvPr>
          <p:cNvSpPr/>
          <p:nvPr/>
        </p:nvSpPr>
        <p:spPr>
          <a:xfrm>
            <a:off x="1944469" y="3042581"/>
            <a:ext cx="5250231" cy="251323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98175FF-3772-B3C4-291D-01D902707D5E}"/>
              </a:ext>
            </a:extLst>
          </p:cNvPr>
          <p:cNvSpPr/>
          <p:nvPr/>
        </p:nvSpPr>
        <p:spPr>
          <a:xfrm>
            <a:off x="0" y="6035518"/>
            <a:ext cx="9483114" cy="81427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893D414-C014-2718-6718-DF4E6C42C4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84014"/>
              </p:ext>
            </p:extLst>
          </p:nvPr>
        </p:nvGraphicFramePr>
        <p:xfrm>
          <a:off x="0" y="342607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Login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Login-1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Main&gt;Login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D82BDB2-F3E0-B073-6861-CAB183327F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536002"/>
              </p:ext>
            </p:extLst>
          </p:nvPr>
        </p:nvGraphicFramePr>
        <p:xfrm>
          <a:off x="9593342" y="1515542"/>
          <a:ext cx="2448492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02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아이디와 비밀번호 입력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Sign-up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으로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Find-Password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80266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749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50166" y="1641534"/>
            <a:ext cx="1019921" cy="5186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1" y="1515542"/>
            <a:ext cx="9483114" cy="53342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8" y="1718288"/>
            <a:ext cx="8980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Home	   About us    Product    				    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BDF2EC4-641F-BA3D-45A5-70EEE27AE66F}"/>
              </a:ext>
            </a:extLst>
          </p:cNvPr>
          <p:cNvCxnSpPr>
            <a:cxnSpLocks/>
          </p:cNvCxnSpPr>
          <p:nvPr/>
        </p:nvCxnSpPr>
        <p:spPr>
          <a:xfrm flipV="1">
            <a:off x="54501" y="2232759"/>
            <a:ext cx="9428614" cy="180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E29A71BE-7B71-BF4C-E6EF-19A4AA4B3576}"/>
              </a:ext>
            </a:extLst>
          </p:cNvPr>
          <p:cNvSpPr/>
          <p:nvPr/>
        </p:nvSpPr>
        <p:spPr>
          <a:xfrm>
            <a:off x="1550911" y="3306550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261028-4777-4EB4-FC59-14A273C9DC12}"/>
              </a:ext>
            </a:extLst>
          </p:cNvPr>
          <p:cNvSpPr txBox="1"/>
          <p:nvPr/>
        </p:nvSpPr>
        <p:spPr>
          <a:xfrm>
            <a:off x="2029305" y="3023646"/>
            <a:ext cx="4590166" cy="31393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Information</a:t>
            </a: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ID: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PW: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Re-Enter PW: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Nickname: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Email: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Birth Year: 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Sex: 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Height: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Weight: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7FF04D9-3B7D-4A28-908C-428942C4AD9F}"/>
              </a:ext>
            </a:extLst>
          </p:cNvPr>
          <p:cNvSpPr/>
          <p:nvPr/>
        </p:nvSpPr>
        <p:spPr>
          <a:xfrm>
            <a:off x="654008" y="2670532"/>
            <a:ext cx="8017653" cy="386954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8290243-187E-3560-4D97-69CCC30140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089067"/>
              </p:ext>
            </p:extLst>
          </p:nvPr>
        </p:nvGraphicFramePr>
        <p:xfrm>
          <a:off x="9593342" y="1515542"/>
          <a:ext cx="2448492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02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회원정보 입력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9E89BCA-AE29-71D8-7DF0-1DE28FAF95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0940990"/>
              </p:ext>
            </p:extLst>
          </p:nvPr>
        </p:nvGraphicFramePr>
        <p:xfrm>
          <a:off x="0" y="326733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Login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Sign up-1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Main&gt;Login&gt;Sign up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8217A14-5767-627B-9981-37CF867C487B}"/>
              </a:ext>
            </a:extLst>
          </p:cNvPr>
          <p:cNvSpPr txBox="1"/>
          <p:nvPr/>
        </p:nvSpPr>
        <p:spPr>
          <a:xfrm>
            <a:off x="2662641" y="3894295"/>
            <a:ext cx="4297477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8~16</a:t>
            </a:r>
            <a:r>
              <a:rPr lang="ko-KR" altLang="en-US" sz="1000" dirty="0"/>
              <a:t>자 이내로 입력하세요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05C18F-DB29-8D99-7F9C-31EFEE412404}"/>
              </a:ext>
            </a:extLst>
          </p:cNvPr>
          <p:cNvSpPr txBox="1"/>
          <p:nvPr/>
        </p:nvSpPr>
        <p:spPr>
          <a:xfrm>
            <a:off x="2662641" y="3627621"/>
            <a:ext cx="4297477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12</a:t>
            </a:r>
            <a:r>
              <a:rPr lang="ko-KR" altLang="en-US" sz="1000" dirty="0"/>
              <a:t>글자 이내로 입력하세요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8D39BE-6FCF-D26F-E53E-4B98BA54BAD6}"/>
              </a:ext>
            </a:extLst>
          </p:cNvPr>
          <p:cNvSpPr txBox="1"/>
          <p:nvPr/>
        </p:nvSpPr>
        <p:spPr>
          <a:xfrm>
            <a:off x="3557233" y="4201733"/>
            <a:ext cx="1208548" cy="2258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F57E49-A06E-8C18-7A46-3515C7FB8BFB}"/>
              </a:ext>
            </a:extLst>
          </p:cNvPr>
          <p:cNvSpPr txBox="1"/>
          <p:nvPr/>
        </p:nvSpPr>
        <p:spPr>
          <a:xfrm>
            <a:off x="3344152" y="4497874"/>
            <a:ext cx="1984802" cy="2495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8</a:t>
            </a:r>
            <a:r>
              <a:rPr lang="ko-KR" altLang="en-US" sz="1000" dirty="0"/>
              <a:t>글자 이내로 입력하세요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14D1C6-ECE7-0B83-A1BA-A5E8E0ACBC56}"/>
              </a:ext>
            </a:extLst>
          </p:cNvPr>
          <p:cNvSpPr txBox="1"/>
          <p:nvPr/>
        </p:nvSpPr>
        <p:spPr>
          <a:xfrm>
            <a:off x="2920365" y="4772732"/>
            <a:ext cx="4297477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B568C0-6165-BDFE-E6CE-22D52967D782}"/>
              </a:ext>
            </a:extLst>
          </p:cNvPr>
          <p:cNvSpPr txBox="1"/>
          <p:nvPr/>
        </p:nvSpPr>
        <p:spPr>
          <a:xfrm>
            <a:off x="3256857" y="5057127"/>
            <a:ext cx="81094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2000)</a:t>
            </a:r>
            <a:endParaRPr lang="ko-KR" altLang="en-US" sz="1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09770C-C3E2-1D14-5A4C-1B9D7ACC1CBD}"/>
              </a:ext>
            </a:extLst>
          </p:cNvPr>
          <p:cNvSpPr txBox="1"/>
          <p:nvPr/>
        </p:nvSpPr>
        <p:spPr>
          <a:xfrm>
            <a:off x="2937506" y="5579096"/>
            <a:ext cx="113029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             (cm)	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E6EB16-1ABA-8F8D-7C93-9A6E7393D3AE}"/>
              </a:ext>
            </a:extLst>
          </p:cNvPr>
          <p:cNvSpPr txBox="1"/>
          <p:nvPr/>
        </p:nvSpPr>
        <p:spPr>
          <a:xfrm>
            <a:off x="2992086" y="5857064"/>
            <a:ext cx="113029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             (kg)	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FC0DE2-BE72-9D58-F404-F9F75C3C8801}"/>
              </a:ext>
            </a:extLst>
          </p:cNvPr>
          <p:cNvSpPr txBox="1"/>
          <p:nvPr/>
        </p:nvSpPr>
        <p:spPr>
          <a:xfrm>
            <a:off x="2691711" y="5315601"/>
            <a:ext cx="113029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 * Male * Femail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87637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44047" y="1642369"/>
            <a:ext cx="1019921" cy="5186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1" y="1515542"/>
            <a:ext cx="9483114" cy="53342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8" y="1718288"/>
            <a:ext cx="8980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Home	   About us    Product    				    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BDF2EC4-641F-BA3D-45A5-70EEE27AE66F}"/>
              </a:ext>
            </a:extLst>
          </p:cNvPr>
          <p:cNvCxnSpPr>
            <a:cxnSpLocks/>
          </p:cNvCxnSpPr>
          <p:nvPr/>
        </p:nvCxnSpPr>
        <p:spPr>
          <a:xfrm flipV="1">
            <a:off x="54501" y="2232759"/>
            <a:ext cx="9428614" cy="180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E29A71BE-7B71-BF4C-E6EF-19A4AA4B3576}"/>
              </a:ext>
            </a:extLst>
          </p:cNvPr>
          <p:cNvSpPr/>
          <p:nvPr/>
        </p:nvSpPr>
        <p:spPr>
          <a:xfrm>
            <a:off x="701230" y="4621926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357D74CF-8C1D-C969-F483-1A1E62911052}"/>
              </a:ext>
            </a:extLst>
          </p:cNvPr>
          <p:cNvSpPr/>
          <p:nvPr/>
        </p:nvSpPr>
        <p:spPr>
          <a:xfrm>
            <a:off x="705482" y="3659990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261028-4777-4EB4-FC59-14A273C9DC12}"/>
              </a:ext>
            </a:extLst>
          </p:cNvPr>
          <p:cNvSpPr txBox="1"/>
          <p:nvPr/>
        </p:nvSpPr>
        <p:spPr>
          <a:xfrm>
            <a:off x="1006457" y="2878242"/>
            <a:ext cx="7712426" cy="385490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Health Information</a:t>
            </a: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en-US" altLang="ko-KR" b="1" i="0" dirty="0">
                <a:solidFill>
                  <a:srgbClr val="001D35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optional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Physical activity:</a:t>
            </a: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Nutrient</a:t>
            </a: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b="1" i="0" dirty="0">
                <a:solidFill>
                  <a:srgbClr val="0A0A0A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Carbs:	              Protein:                        Fat :                          Sugar:</a:t>
            </a:r>
          </a:p>
          <a:p>
            <a:endParaRPr lang="en-US" altLang="ko-KR" b="1" dirty="0">
              <a:solidFill>
                <a:srgbClr val="0A0A0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b="1" dirty="0">
              <a:solidFill>
                <a:srgbClr val="0A0A0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050" b="1" dirty="0">
              <a:solidFill>
                <a:srgbClr val="0A0A0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b="1" i="0" dirty="0">
                <a:solidFill>
                  <a:srgbClr val="0A0A0A"/>
                </a:solidFill>
                <a:effectLst/>
                <a:latin typeface="Arial" panose="020B0604020202020204" pitchFamily="34" charset="0"/>
              </a:rPr>
              <a:t>Natrium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:                </a:t>
            </a:r>
            <a:r>
              <a:rPr lang="en-US" altLang="ko-KR" sz="1800" b="1" dirty="0"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Cholesterol:              </a:t>
            </a:r>
            <a:r>
              <a:rPr lang="en-US" altLang="ko-KR" b="1" dirty="0">
                <a:solidFill>
                  <a:srgbClr val="0A0A0A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Arial" panose="020B0604020202020204" pitchFamily="34" charset="0"/>
              </a:rPr>
              <a:t>S</a:t>
            </a:r>
            <a:r>
              <a:rPr lang="en-US" altLang="ko-KR" sz="1800" b="1" i="0" dirty="0">
                <a:solidFill>
                  <a:srgbClr val="0A0A0A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aturated</a:t>
            </a:r>
            <a:r>
              <a:rPr lang="en-US" altLang="ko-KR" b="1" dirty="0">
                <a:solidFill>
                  <a:srgbClr val="0A0A0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  <a:r>
              <a:rPr lang="en-US" altLang="ko-KR" sz="1800" b="1" i="0" dirty="0">
                <a:solidFill>
                  <a:srgbClr val="0A0A0A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:                    Dietary:</a:t>
            </a:r>
          </a:p>
          <a:p>
            <a:r>
              <a:rPr lang="en-US" altLang="ko-KR" b="1" dirty="0">
                <a:solidFill>
                  <a:srgbClr val="0A0A0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                                                                        Fat                                   Fiber</a:t>
            </a:r>
            <a:r>
              <a:rPr lang="en-US" altLang="ko-KR" sz="1800" b="1" i="0" dirty="0">
                <a:solidFill>
                  <a:srgbClr val="0A0A0A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endParaRPr lang="ko-KR" altLang="en-US" b="1" dirty="0">
              <a:latin typeface="Noto Sans KR" panose="020B0200000000000000" pitchFamily="50" charset="-127"/>
              <a:ea typeface="Noto Sans KR" panose="020B0200000000000000" pitchFamily="50" charset="-127"/>
              <a:cs typeface="Arial" panose="020B0604020202020204" pitchFamily="34" charset="0"/>
            </a:endParaRP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7FF04D9-3B7D-4A28-908C-428942C4AD9F}"/>
              </a:ext>
            </a:extLst>
          </p:cNvPr>
          <p:cNvSpPr/>
          <p:nvPr/>
        </p:nvSpPr>
        <p:spPr>
          <a:xfrm>
            <a:off x="654008" y="2670532"/>
            <a:ext cx="8417324" cy="400882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20C45F3-8393-6BEF-6FA4-4FD555D61C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1421085"/>
              </p:ext>
            </p:extLst>
          </p:nvPr>
        </p:nvGraphicFramePr>
        <p:xfrm>
          <a:off x="9593342" y="1515542"/>
          <a:ext cx="2448492" cy="3230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02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신체활동 정보와 영양소 정보 입력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신체활동은 걷기와 유산소 운동으로 나누고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일주일간 몇 번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몇 시간 했는지 입력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회원가입 도중에는 </a:t>
                      </a:r>
                      <a:r>
                        <a:rPr lang="ko-KR" altLang="en-US" sz="16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스킵하고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가입가능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 Main&gt;Analyze 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경로로 들어온 사람은 필수 입력</a:t>
                      </a:r>
                      <a:r>
                        <a:rPr lang="en-US" altLang="ko-KR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endParaRPr lang="ko-KR" altLang="en-US" sz="16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0977EB7-E2C4-E8D6-59C5-B9AB7B712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19677"/>
              </p:ext>
            </p:extLst>
          </p:nvPr>
        </p:nvGraphicFramePr>
        <p:xfrm>
          <a:off x="-732" y="329061"/>
          <a:ext cx="1081832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849856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405762">
                  <a:extLst>
                    <a:ext uri="{9D8B030D-6E8A-4147-A177-3AD203B41FA5}">
                      <a16:colId xmlns:a16="http://schemas.microsoft.com/office/drawing/2014/main" val="1549830349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Login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Sign up-2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Main&gt;Login&gt;Sign up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Main&gt;Analyze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52C7686-F2B9-2B0B-B620-DFF1B4184D5E}"/>
              </a:ext>
            </a:extLst>
          </p:cNvPr>
          <p:cNvSpPr txBox="1"/>
          <p:nvPr/>
        </p:nvSpPr>
        <p:spPr>
          <a:xfrm>
            <a:off x="1794484" y="4803383"/>
            <a:ext cx="69861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   (g)                     (g)                  (g)                         (g) 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2CC4B6-A479-8EC9-66C0-886D143495F3}"/>
              </a:ext>
            </a:extLst>
          </p:cNvPr>
          <p:cNvSpPr txBox="1"/>
          <p:nvPr/>
        </p:nvSpPr>
        <p:spPr>
          <a:xfrm>
            <a:off x="2078089" y="5792157"/>
            <a:ext cx="6702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(mg)                     (mg)                       (g)                 (g) </a:t>
            </a:r>
            <a:endParaRPr lang="ko-KR" altLang="en-US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514B5598-DA3D-875C-6E1B-C0B8654AFE34}"/>
              </a:ext>
            </a:extLst>
          </p:cNvPr>
          <p:cNvSpPr/>
          <p:nvPr/>
        </p:nvSpPr>
        <p:spPr>
          <a:xfrm>
            <a:off x="1053679" y="4746422"/>
            <a:ext cx="7665204" cy="170282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328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44047" y="1644763"/>
            <a:ext cx="1019921" cy="5186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1" y="1515542"/>
            <a:ext cx="9483114" cy="53342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8" y="1718288"/>
            <a:ext cx="8980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Home	   About us    Product    				    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BDF2EC4-641F-BA3D-45A5-70EEE27AE66F}"/>
              </a:ext>
            </a:extLst>
          </p:cNvPr>
          <p:cNvCxnSpPr>
            <a:cxnSpLocks/>
          </p:cNvCxnSpPr>
          <p:nvPr/>
        </p:nvCxnSpPr>
        <p:spPr>
          <a:xfrm flipV="1">
            <a:off x="54501" y="2232759"/>
            <a:ext cx="9428614" cy="180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E29A71BE-7B71-BF4C-E6EF-19A4AA4B3576}"/>
              </a:ext>
            </a:extLst>
          </p:cNvPr>
          <p:cNvSpPr/>
          <p:nvPr/>
        </p:nvSpPr>
        <p:spPr>
          <a:xfrm>
            <a:off x="1359789" y="2865948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7FF04D9-3B7D-4A28-908C-428942C4AD9F}"/>
              </a:ext>
            </a:extLst>
          </p:cNvPr>
          <p:cNvSpPr/>
          <p:nvPr/>
        </p:nvSpPr>
        <p:spPr>
          <a:xfrm>
            <a:off x="654008" y="2670532"/>
            <a:ext cx="8017653" cy="386954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4892F6E-E2B3-DEC7-ED09-B01D8B8CE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380414"/>
              </p:ext>
            </p:extLst>
          </p:nvPr>
        </p:nvGraphicFramePr>
        <p:xfrm>
          <a:off x="9593342" y="1515542"/>
          <a:ext cx="244849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02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데이터 기반 </a:t>
                      </a:r>
                      <a:r>
                        <a:rPr lang="ko-KR" altLang="en-US" sz="16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산점도</a:t>
                      </a:r>
                      <a:r>
                        <a:rPr lang="ko-KR" altLang="en-US" sz="16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출력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5BAE90A-2F62-5071-BE23-5EA831CDA8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784851"/>
              </p:ext>
            </p:extLst>
          </p:nvPr>
        </p:nvGraphicFramePr>
        <p:xfrm>
          <a:off x="0" y="319905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Login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Result-1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Main&gt;Analyze&gt;Result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B825872F-115D-6A81-9DD6-80ADF21DDB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1598327"/>
              </p:ext>
            </p:extLst>
          </p:nvPr>
        </p:nvGraphicFramePr>
        <p:xfrm>
          <a:off x="1838183" y="2772742"/>
          <a:ext cx="5915004" cy="36406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377787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6544D5CB-65FB-B50C-0CBA-6AA910ED1A39}"/>
              </a:ext>
            </a:extLst>
          </p:cNvPr>
          <p:cNvSpPr/>
          <p:nvPr/>
        </p:nvSpPr>
        <p:spPr>
          <a:xfrm>
            <a:off x="144047" y="1641534"/>
            <a:ext cx="1019921" cy="51865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BA87C2E-C6AD-1F49-3B2B-29FA99AE881C}"/>
              </a:ext>
            </a:extLst>
          </p:cNvPr>
          <p:cNvSpPr>
            <a:spLocks noChangeAspect="1"/>
          </p:cNvSpPr>
          <p:nvPr/>
        </p:nvSpPr>
        <p:spPr>
          <a:xfrm>
            <a:off x="1" y="1515542"/>
            <a:ext cx="9483114" cy="53342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A1D99-70AE-52A9-016B-404261914CC9}"/>
              </a:ext>
            </a:extLst>
          </p:cNvPr>
          <p:cNvSpPr txBox="1"/>
          <p:nvPr/>
        </p:nvSpPr>
        <p:spPr>
          <a:xfrm>
            <a:off x="305658" y="1718288"/>
            <a:ext cx="8980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Logo      Home	   About us    Product    				       Login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BDF2EC4-641F-BA3D-45A5-70EEE27AE66F}"/>
              </a:ext>
            </a:extLst>
          </p:cNvPr>
          <p:cNvCxnSpPr>
            <a:cxnSpLocks/>
          </p:cNvCxnSpPr>
          <p:nvPr/>
        </p:nvCxnSpPr>
        <p:spPr>
          <a:xfrm flipV="1">
            <a:off x="54501" y="2232759"/>
            <a:ext cx="9428614" cy="180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E29A71BE-7B71-BF4C-E6EF-19A4AA4B3576}"/>
              </a:ext>
            </a:extLst>
          </p:cNvPr>
          <p:cNvSpPr/>
          <p:nvPr/>
        </p:nvSpPr>
        <p:spPr>
          <a:xfrm>
            <a:off x="1595659" y="2816157"/>
            <a:ext cx="478394" cy="444357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357D74CF-8C1D-C969-F483-1A1E62911052}"/>
              </a:ext>
            </a:extLst>
          </p:cNvPr>
          <p:cNvSpPr/>
          <p:nvPr/>
        </p:nvSpPr>
        <p:spPr>
          <a:xfrm>
            <a:off x="1540546" y="4255920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2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82DEA9FF-80A1-0E4A-BC6F-1CC0524F0280}"/>
              </a:ext>
            </a:extLst>
          </p:cNvPr>
          <p:cNvSpPr/>
          <p:nvPr/>
        </p:nvSpPr>
        <p:spPr>
          <a:xfrm>
            <a:off x="1650773" y="5533828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7FF04D9-3B7D-4A28-908C-428942C4AD9F}"/>
              </a:ext>
            </a:extLst>
          </p:cNvPr>
          <p:cNvSpPr/>
          <p:nvPr/>
        </p:nvSpPr>
        <p:spPr>
          <a:xfrm>
            <a:off x="654008" y="2670532"/>
            <a:ext cx="8017653" cy="386954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33D521-431C-E19B-92DD-89E8A169CBE2}"/>
              </a:ext>
            </a:extLst>
          </p:cNvPr>
          <p:cNvSpPr txBox="1"/>
          <p:nvPr/>
        </p:nvSpPr>
        <p:spPr>
          <a:xfrm>
            <a:off x="2184281" y="2979988"/>
            <a:ext cx="46688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Problem</a:t>
            </a: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Solution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2EA2424F-0F8B-961B-DFE0-861C40695923}"/>
              </a:ext>
            </a:extLst>
          </p:cNvPr>
          <p:cNvSpPr/>
          <p:nvPr/>
        </p:nvSpPr>
        <p:spPr>
          <a:xfrm>
            <a:off x="4991461" y="5684572"/>
            <a:ext cx="1683465" cy="575285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save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6A59E9B-DF33-1FCF-B879-D7F004CDC33D}"/>
              </a:ext>
            </a:extLst>
          </p:cNvPr>
          <p:cNvSpPr/>
          <p:nvPr/>
        </p:nvSpPr>
        <p:spPr>
          <a:xfrm>
            <a:off x="2129167" y="2816157"/>
            <a:ext cx="4668890" cy="121057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F7B61DE-FEC5-F2D1-55F8-E2F535DCDF5F}"/>
              </a:ext>
            </a:extLst>
          </p:cNvPr>
          <p:cNvSpPr/>
          <p:nvPr/>
        </p:nvSpPr>
        <p:spPr>
          <a:xfrm>
            <a:off x="2129167" y="4323256"/>
            <a:ext cx="4668890" cy="121057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A765468-75B4-4D75-4CFE-1C48340E4BFB}"/>
              </a:ext>
            </a:extLst>
          </p:cNvPr>
          <p:cNvSpPr/>
          <p:nvPr/>
        </p:nvSpPr>
        <p:spPr>
          <a:xfrm>
            <a:off x="2351711" y="5684572"/>
            <a:ext cx="1683465" cy="575285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back</a:t>
            </a:r>
            <a:endParaRPr lang="ko-KR" altLang="en-US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FC1AFD-180F-675E-48A5-CE8F5F6F8B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104406"/>
              </p:ext>
            </p:extLst>
          </p:nvPr>
        </p:nvGraphicFramePr>
        <p:xfrm>
          <a:off x="9593342" y="1515542"/>
          <a:ext cx="244849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02">
                  <a:extLst>
                    <a:ext uri="{9D8B030D-6E8A-4147-A177-3AD203B41FA5}">
                      <a16:colId xmlns:a16="http://schemas.microsoft.com/office/drawing/2014/main" val="2921883874"/>
                    </a:ext>
                  </a:extLst>
                </a:gridCol>
                <a:gridCol w="2139090">
                  <a:extLst>
                    <a:ext uri="{9D8B030D-6E8A-4147-A177-3AD203B41FA5}">
                      <a16:colId xmlns:a16="http://schemas.microsoft.com/office/drawing/2014/main" val="3151450483"/>
                    </a:ext>
                  </a:extLst>
                </a:gridCol>
              </a:tblGrid>
              <a:tr h="3553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Description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606468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유저의 영양소 문제점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868843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‘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당을 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15g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줄이세요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’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와 같은 가이드 제시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5718920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뒤로 가기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8026692"/>
                  </a:ext>
                </a:extLst>
              </a:tr>
              <a:tr h="35533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저장한 뒤 데이터는 마이페이지에서 볼 수 있음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76029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75448E7B-6A7F-7E2C-E16E-8A0CF4A14E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2774966"/>
              </p:ext>
            </p:extLst>
          </p:nvPr>
        </p:nvGraphicFramePr>
        <p:xfrm>
          <a:off x="-731" y="317921"/>
          <a:ext cx="10818319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786">
                  <a:extLst>
                    <a:ext uri="{9D8B030D-6E8A-4147-A177-3AD203B41FA5}">
                      <a16:colId xmlns:a16="http://schemas.microsoft.com/office/drawing/2014/main" val="393083238"/>
                    </a:ext>
                  </a:extLst>
                </a:gridCol>
                <a:gridCol w="1079824">
                  <a:extLst>
                    <a:ext uri="{9D8B030D-6E8A-4147-A177-3AD203B41FA5}">
                      <a16:colId xmlns:a16="http://schemas.microsoft.com/office/drawing/2014/main" val="4036380371"/>
                    </a:ext>
                  </a:extLst>
                </a:gridCol>
                <a:gridCol w="1264958">
                  <a:extLst>
                    <a:ext uri="{9D8B030D-6E8A-4147-A177-3AD203B41FA5}">
                      <a16:colId xmlns:a16="http://schemas.microsoft.com/office/drawing/2014/main" val="3258732937"/>
                    </a:ext>
                  </a:extLst>
                </a:gridCol>
                <a:gridCol w="1357129">
                  <a:extLst>
                    <a:ext uri="{9D8B030D-6E8A-4147-A177-3AD203B41FA5}">
                      <a16:colId xmlns:a16="http://schemas.microsoft.com/office/drawing/2014/main" val="626474920"/>
                    </a:ext>
                  </a:extLst>
                </a:gridCol>
                <a:gridCol w="1255617">
                  <a:extLst>
                    <a:ext uri="{9D8B030D-6E8A-4147-A177-3AD203B41FA5}">
                      <a16:colId xmlns:a16="http://schemas.microsoft.com/office/drawing/2014/main" val="3887137833"/>
                    </a:ext>
                  </a:extLst>
                </a:gridCol>
                <a:gridCol w="1240501">
                  <a:extLst>
                    <a:ext uri="{9D8B030D-6E8A-4147-A177-3AD203B41FA5}">
                      <a16:colId xmlns:a16="http://schemas.microsoft.com/office/drawing/2014/main" val="4027254860"/>
                    </a:ext>
                  </a:extLst>
                </a:gridCol>
                <a:gridCol w="1193074">
                  <a:extLst>
                    <a:ext uri="{9D8B030D-6E8A-4147-A177-3AD203B41FA5}">
                      <a16:colId xmlns:a16="http://schemas.microsoft.com/office/drawing/2014/main" val="190926218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303055764"/>
                    </a:ext>
                  </a:extLst>
                </a:gridCol>
              </a:tblGrid>
              <a:tr h="2916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Page Title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Login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ID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Result-2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Author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신혜린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Date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2026.03.23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684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Screen Path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Main&gt;Analyze&gt;Result&gt;Scroll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649175"/>
                  </a:ext>
                </a:extLst>
              </a:tr>
            </a:tbl>
          </a:graphicData>
        </a:graphic>
      </p:graphicFrame>
      <p:sp>
        <p:nvSpPr>
          <p:cNvPr id="12" name="타원 11">
            <a:extLst>
              <a:ext uri="{FF2B5EF4-FFF2-40B4-BE49-F238E27FC236}">
                <a16:creationId xmlns:a16="http://schemas.microsoft.com/office/drawing/2014/main" id="{B5C583B5-D08D-10E7-69E1-F44388D9794A}"/>
              </a:ext>
            </a:extLst>
          </p:cNvPr>
          <p:cNvSpPr/>
          <p:nvPr/>
        </p:nvSpPr>
        <p:spPr>
          <a:xfrm>
            <a:off x="4502361" y="5558559"/>
            <a:ext cx="478394" cy="478394"/>
          </a:xfrm>
          <a:prstGeom prst="ellipse">
            <a:avLst/>
          </a:prstGeom>
          <a:solidFill>
            <a:srgbClr val="FFC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4</a:t>
            </a:r>
            <a:endParaRPr lang="ko-KR" altLang="en-US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6929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</TotalTime>
  <Words>664</Words>
  <Application>Microsoft Office PowerPoint</Application>
  <PresentationFormat>와이드스크린</PresentationFormat>
  <Paragraphs>254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Noto Sans KR</vt:lpstr>
      <vt:lpstr>Noto Sans KR Black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403_25</dc:creator>
  <cp:lastModifiedBy>혜린 신</cp:lastModifiedBy>
  <cp:revision>29</cp:revision>
  <dcterms:created xsi:type="dcterms:W3CDTF">2026-03-16T05:38:04Z</dcterms:created>
  <dcterms:modified xsi:type="dcterms:W3CDTF">2026-03-23T05:56:29Z</dcterms:modified>
</cp:coreProperties>
</file>